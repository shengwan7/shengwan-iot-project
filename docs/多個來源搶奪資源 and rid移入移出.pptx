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3A674-5A73-49BC-97C4-F0CE4151847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EF0E91D-38AD-432C-908D-7DB1BBD7028B}">
      <dgm:prSet/>
      <dgm:spPr/>
      <dgm:t>
        <a:bodyPr/>
        <a:lstStyle/>
        <a:p>
          <a:r>
            <a:rPr lang="zh-TW" b="1"/>
            <a:t>資源分配</a:t>
          </a:r>
          <a:r>
            <a:rPr lang="zh-TW"/>
            <a:t>：單一擁有者架構成功解決了 LED 搶佔問題。</a:t>
          </a:r>
          <a:endParaRPr lang="en-US"/>
        </a:p>
      </dgm:t>
    </dgm:pt>
    <dgm:pt modelId="{3C424F05-2F4D-4BBD-9F3E-6FDF39883ED2}" type="parTrans" cxnId="{9CFFDB7B-3FD9-4849-BFA3-3DC72C12B9A7}">
      <dgm:prSet/>
      <dgm:spPr/>
      <dgm:t>
        <a:bodyPr/>
        <a:lstStyle/>
        <a:p>
          <a:endParaRPr lang="en-US"/>
        </a:p>
      </dgm:t>
    </dgm:pt>
    <dgm:pt modelId="{3B69D481-D6DD-4F04-81A1-355CC40CEAB5}" type="sibTrans" cxnId="{9CFFDB7B-3FD9-4849-BFA3-3DC72C12B9A7}">
      <dgm:prSet/>
      <dgm:spPr/>
      <dgm:t>
        <a:bodyPr/>
        <a:lstStyle/>
        <a:p>
          <a:endParaRPr lang="en-US"/>
        </a:p>
      </dgm:t>
    </dgm:pt>
    <dgm:pt modelId="{6C2C5F24-032F-45F1-80A4-69AAB5C307C0}">
      <dgm:prSet/>
      <dgm:spPr/>
      <dgm:t>
        <a:bodyPr/>
        <a:lstStyle/>
        <a:p>
          <a:r>
            <a:rPr lang="zh-TW" b="1"/>
            <a:t>感測器整合</a:t>
          </a:r>
          <a:r>
            <a:rPr lang="zh-TW"/>
            <a:t>：PIR 成功偵測進出，並串接蜂鳴器音樂。</a:t>
          </a:r>
          <a:endParaRPr lang="en-US"/>
        </a:p>
      </dgm:t>
    </dgm:pt>
    <dgm:pt modelId="{9DE6FFBB-BFA0-400E-9B6C-05053D2D9054}" type="parTrans" cxnId="{92E4642E-6A08-4857-BBE5-2C6D7D1A5E27}">
      <dgm:prSet/>
      <dgm:spPr/>
      <dgm:t>
        <a:bodyPr/>
        <a:lstStyle/>
        <a:p>
          <a:endParaRPr lang="en-US"/>
        </a:p>
      </dgm:t>
    </dgm:pt>
    <dgm:pt modelId="{65ECF52E-0923-4EFF-B316-2586CE41EEDD}" type="sibTrans" cxnId="{92E4642E-6A08-4857-BBE5-2C6D7D1A5E27}">
      <dgm:prSet/>
      <dgm:spPr/>
      <dgm:t>
        <a:bodyPr/>
        <a:lstStyle/>
        <a:p>
          <a:endParaRPr lang="en-US"/>
        </a:p>
      </dgm:t>
    </dgm:pt>
    <dgm:pt modelId="{F3E992BD-0F02-4276-B84F-0CCC002746C3}">
      <dgm:prSet/>
      <dgm:spPr/>
      <dgm:t>
        <a:bodyPr/>
        <a:lstStyle/>
        <a:p>
          <a:r>
            <a:rPr lang="zh-TW" b="1"/>
            <a:t>穩定性</a:t>
          </a:r>
          <a:r>
            <a:rPr lang="zh-TW"/>
            <a:t>：程式能承受多個非同步任務同時運作。</a:t>
          </a:r>
          <a:endParaRPr lang="en-US"/>
        </a:p>
      </dgm:t>
    </dgm:pt>
    <dgm:pt modelId="{5F8E7332-2814-4652-89A8-7ADE6270C6A1}" type="parTrans" cxnId="{4AD2D4DF-1862-4DD2-8968-99831B7CB8E1}">
      <dgm:prSet/>
      <dgm:spPr/>
      <dgm:t>
        <a:bodyPr/>
        <a:lstStyle/>
        <a:p>
          <a:endParaRPr lang="en-US"/>
        </a:p>
      </dgm:t>
    </dgm:pt>
    <dgm:pt modelId="{E620B86C-03B9-4DA8-844E-23CA8A1A1599}" type="sibTrans" cxnId="{4AD2D4DF-1862-4DD2-8968-99831B7CB8E1}">
      <dgm:prSet/>
      <dgm:spPr/>
      <dgm:t>
        <a:bodyPr/>
        <a:lstStyle/>
        <a:p>
          <a:endParaRPr lang="en-US"/>
        </a:p>
      </dgm:t>
    </dgm:pt>
    <dgm:pt modelId="{6B880F96-7363-45FB-B8B7-893DC983015D}" type="pres">
      <dgm:prSet presAssocID="{CE43A674-5A73-49BC-97C4-F0CE41518478}" presName="linear" presStyleCnt="0">
        <dgm:presLayoutVars>
          <dgm:dir/>
          <dgm:animLvl val="lvl"/>
          <dgm:resizeHandles val="exact"/>
        </dgm:presLayoutVars>
      </dgm:prSet>
      <dgm:spPr/>
    </dgm:pt>
    <dgm:pt modelId="{59649B1B-3D9C-48B5-8CDD-6F290255129C}" type="pres">
      <dgm:prSet presAssocID="{8EF0E91D-38AD-432C-908D-7DB1BBD7028B}" presName="parentLin" presStyleCnt="0"/>
      <dgm:spPr/>
    </dgm:pt>
    <dgm:pt modelId="{888D0EF4-0B22-4C40-B2DD-85355B9FE4C9}" type="pres">
      <dgm:prSet presAssocID="{8EF0E91D-38AD-432C-908D-7DB1BBD7028B}" presName="parentLeftMargin" presStyleLbl="node1" presStyleIdx="0" presStyleCnt="3"/>
      <dgm:spPr/>
    </dgm:pt>
    <dgm:pt modelId="{A15C5ABE-18EC-4D84-8288-8B0708B6BBD6}" type="pres">
      <dgm:prSet presAssocID="{8EF0E91D-38AD-432C-908D-7DB1BBD7028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1E61AA-A86E-4E3D-AD90-566F8D16C2DD}" type="pres">
      <dgm:prSet presAssocID="{8EF0E91D-38AD-432C-908D-7DB1BBD7028B}" presName="negativeSpace" presStyleCnt="0"/>
      <dgm:spPr/>
    </dgm:pt>
    <dgm:pt modelId="{E08CC4A7-5422-492E-85AF-EE891454CD1E}" type="pres">
      <dgm:prSet presAssocID="{8EF0E91D-38AD-432C-908D-7DB1BBD7028B}" presName="childText" presStyleLbl="conFgAcc1" presStyleIdx="0" presStyleCnt="3">
        <dgm:presLayoutVars>
          <dgm:bulletEnabled val="1"/>
        </dgm:presLayoutVars>
      </dgm:prSet>
      <dgm:spPr/>
    </dgm:pt>
    <dgm:pt modelId="{44442961-8D58-4F38-A728-2ACBABF2CA09}" type="pres">
      <dgm:prSet presAssocID="{3B69D481-D6DD-4F04-81A1-355CC40CEAB5}" presName="spaceBetweenRectangles" presStyleCnt="0"/>
      <dgm:spPr/>
    </dgm:pt>
    <dgm:pt modelId="{5B639775-3F89-47BB-BEEF-48A1A6E5C37A}" type="pres">
      <dgm:prSet presAssocID="{6C2C5F24-032F-45F1-80A4-69AAB5C307C0}" presName="parentLin" presStyleCnt="0"/>
      <dgm:spPr/>
    </dgm:pt>
    <dgm:pt modelId="{AA777C5D-551A-48E1-9C80-724952F0D67F}" type="pres">
      <dgm:prSet presAssocID="{6C2C5F24-032F-45F1-80A4-69AAB5C307C0}" presName="parentLeftMargin" presStyleLbl="node1" presStyleIdx="0" presStyleCnt="3"/>
      <dgm:spPr/>
    </dgm:pt>
    <dgm:pt modelId="{04BEA821-99AD-491B-8FEB-782DAA89DF83}" type="pres">
      <dgm:prSet presAssocID="{6C2C5F24-032F-45F1-80A4-69AAB5C307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A95BC9-7247-47D2-8CEC-BDB2BEC0A678}" type="pres">
      <dgm:prSet presAssocID="{6C2C5F24-032F-45F1-80A4-69AAB5C307C0}" presName="negativeSpace" presStyleCnt="0"/>
      <dgm:spPr/>
    </dgm:pt>
    <dgm:pt modelId="{1CD8C7B1-41B1-4EA1-A11A-75994F8A966F}" type="pres">
      <dgm:prSet presAssocID="{6C2C5F24-032F-45F1-80A4-69AAB5C307C0}" presName="childText" presStyleLbl="conFgAcc1" presStyleIdx="1" presStyleCnt="3">
        <dgm:presLayoutVars>
          <dgm:bulletEnabled val="1"/>
        </dgm:presLayoutVars>
      </dgm:prSet>
      <dgm:spPr/>
    </dgm:pt>
    <dgm:pt modelId="{E40DC910-7B07-4DAA-861E-875ECE01EBD8}" type="pres">
      <dgm:prSet presAssocID="{65ECF52E-0923-4EFF-B316-2586CE41EEDD}" presName="spaceBetweenRectangles" presStyleCnt="0"/>
      <dgm:spPr/>
    </dgm:pt>
    <dgm:pt modelId="{2E5BAB08-CFFB-4626-BD34-8358B6708639}" type="pres">
      <dgm:prSet presAssocID="{F3E992BD-0F02-4276-B84F-0CCC002746C3}" presName="parentLin" presStyleCnt="0"/>
      <dgm:spPr/>
    </dgm:pt>
    <dgm:pt modelId="{DA9D2BD1-5E13-4D54-8C70-0C943C907EDA}" type="pres">
      <dgm:prSet presAssocID="{F3E992BD-0F02-4276-B84F-0CCC002746C3}" presName="parentLeftMargin" presStyleLbl="node1" presStyleIdx="1" presStyleCnt="3"/>
      <dgm:spPr/>
    </dgm:pt>
    <dgm:pt modelId="{F12CBC4F-4D6C-41CF-8117-1F45977901B6}" type="pres">
      <dgm:prSet presAssocID="{F3E992BD-0F02-4276-B84F-0CCC002746C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CC997BB-ADF9-4B9F-A2C4-390D8C5ABE00}" type="pres">
      <dgm:prSet presAssocID="{F3E992BD-0F02-4276-B84F-0CCC002746C3}" presName="negativeSpace" presStyleCnt="0"/>
      <dgm:spPr/>
    </dgm:pt>
    <dgm:pt modelId="{3BCE7E04-1356-40EE-8EE2-C875BAA1F73E}" type="pres">
      <dgm:prSet presAssocID="{F3E992BD-0F02-4276-B84F-0CCC002746C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07A4423-BF23-4DBB-86FB-62A92C2670AE}" type="presOf" srcId="{6C2C5F24-032F-45F1-80A4-69AAB5C307C0}" destId="{AA777C5D-551A-48E1-9C80-724952F0D67F}" srcOrd="0" destOrd="0" presId="urn:microsoft.com/office/officeart/2005/8/layout/list1"/>
    <dgm:cxn modelId="{92E4642E-6A08-4857-BBE5-2C6D7D1A5E27}" srcId="{CE43A674-5A73-49BC-97C4-F0CE41518478}" destId="{6C2C5F24-032F-45F1-80A4-69AAB5C307C0}" srcOrd="1" destOrd="0" parTransId="{9DE6FFBB-BFA0-400E-9B6C-05053D2D9054}" sibTransId="{65ECF52E-0923-4EFF-B316-2586CE41EEDD}"/>
    <dgm:cxn modelId="{72D40E5E-448F-4E4F-9B6C-12941CA113F5}" type="presOf" srcId="{F3E992BD-0F02-4276-B84F-0CCC002746C3}" destId="{F12CBC4F-4D6C-41CF-8117-1F45977901B6}" srcOrd="1" destOrd="0" presId="urn:microsoft.com/office/officeart/2005/8/layout/list1"/>
    <dgm:cxn modelId="{7789B86D-06D7-4A4C-9128-586C9CF1B3BC}" type="presOf" srcId="{CE43A674-5A73-49BC-97C4-F0CE41518478}" destId="{6B880F96-7363-45FB-B8B7-893DC983015D}" srcOrd="0" destOrd="0" presId="urn:microsoft.com/office/officeart/2005/8/layout/list1"/>
    <dgm:cxn modelId="{911B5655-6566-40AB-AFAC-D55BEB68F34C}" type="presOf" srcId="{8EF0E91D-38AD-432C-908D-7DB1BBD7028B}" destId="{A15C5ABE-18EC-4D84-8288-8B0708B6BBD6}" srcOrd="1" destOrd="0" presId="urn:microsoft.com/office/officeart/2005/8/layout/list1"/>
    <dgm:cxn modelId="{9CFFDB7B-3FD9-4849-BFA3-3DC72C12B9A7}" srcId="{CE43A674-5A73-49BC-97C4-F0CE41518478}" destId="{8EF0E91D-38AD-432C-908D-7DB1BBD7028B}" srcOrd="0" destOrd="0" parTransId="{3C424F05-2F4D-4BBD-9F3E-6FDF39883ED2}" sibTransId="{3B69D481-D6DD-4F04-81A1-355CC40CEAB5}"/>
    <dgm:cxn modelId="{A09F6C82-A7FB-411C-9C6B-E8BBA1E7C76C}" type="presOf" srcId="{F3E992BD-0F02-4276-B84F-0CCC002746C3}" destId="{DA9D2BD1-5E13-4D54-8C70-0C943C907EDA}" srcOrd="0" destOrd="0" presId="urn:microsoft.com/office/officeart/2005/8/layout/list1"/>
    <dgm:cxn modelId="{C487DB82-00DE-4CC9-BD28-FDCC8719C5F1}" type="presOf" srcId="{6C2C5F24-032F-45F1-80A4-69AAB5C307C0}" destId="{04BEA821-99AD-491B-8FEB-782DAA89DF83}" srcOrd="1" destOrd="0" presId="urn:microsoft.com/office/officeart/2005/8/layout/list1"/>
    <dgm:cxn modelId="{4AD2D4DF-1862-4DD2-8968-99831B7CB8E1}" srcId="{CE43A674-5A73-49BC-97C4-F0CE41518478}" destId="{F3E992BD-0F02-4276-B84F-0CCC002746C3}" srcOrd="2" destOrd="0" parTransId="{5F8E7332-2814-4652-89A8-7ADE6270C6A1}" sibTransId="{E620B86C-03B9-4DA8-844E-23CA8A1A1599}"/>
    <dgm:cxn modelId="{350D93FD-D66F-4503-A814-96A5E358887F}" type="presOf" srcId="{8EF0E91D-38AD-432C-908D-7DB1BBD7028B}" destId="{888D0EF4-0B22-4C40-B2DD-85355B9FE4C9}" srcOrd="0" destOrd="0" presId="urn:microsoft.com/office/officeart/2005/8/layout/list1"/>
    <dgm:cxn modelId="{C77B4BDA-2516-4860-9ECC-5F20AA37947C}" type="presParOf" srcId="{6B880F96-7363-45FB-B8B7-893DC983015D}" destId="{59649B1B-3D9C-48B5-8CDD-6F290255129C}" srcOrd="0" destOrd="0" presId="urn:microsoft.com/office/officeart/2005/8/layout/list1"/>
    <dgm:cxn modelId="{E905D68E-2351-4307-A6B7-9CB56BBF1D71}" type="presParOf" srcId="{59649B1B-3D9C-48B5-8CDD-6F290255129C}" destId="{888D0EF4-0B22-4C40-B2DD-85355B9FE4C9}" srcOrd="0" destOrd="0" presId="urn:microsoft.com/office/officeart/2005/8/layout/list1"/>
    <dgm:cxn modelId="{B00A4D87-00F0-4B74-B55A-59711BE68489}" type="presParOf" srcId="{59649B1B-3D9C-48B5-8CDD-6F290255129C}" destId="{A15C5ABE-18EC-4D84-8288-8B0708B6BBD6}" srcOrd="1" destOrd="0" presId="urn:microsoft.com/office/officeart/2005/8/layout/list1"/>
    <dgm:cxn modelId="{51A7A7CA-9692-4CE6-A1F8-DABAFC2E8D5B}" type="presParOf" srcId="{6B880F96-7363-45FB-B8B7-893DC983015D}" destId="{CA1E61AA-A86E-4E3D-AD90-566F8D16C2DD}" srcOrd="1" destOrd="0" presId="urn:microsoft.com/office/officeart/2005/8/layout/list1"/>
    <dgm:cxn modelId="{EBD081C0-96E6-4A49-86D7-D5C1645D93B0}" type="presParOf" srcId="{6B880F96-7363-45FB-B8B7-893DC983015D}" destId="{E08CC4A7-5422-492E-85AF-EE891454CD1E}" srcOrd="2" destOrd="0" presId="urn:microsoft.com/office/officeart/2005/8/layout/list1"/>
    <dgm:cxn modelId="{6E8C8B5C-B672-4BE4-9E18-5192AEC8888C}" type="presParOf" srcId="{6B880F96-7363-45FB-B8B7-893DC983015D}" destId="{44442961-8D58-4F38-A728-2ACBABF2CA09}" srcOrd="3" destOrd="0" presId="urn:microsoft.com/office/officeart/2005/8/layout/list1"/>
    <dgm:cxn modelId="{8EC0B43F-9EC6-4C5E-860E-58984BB88FA0}" type="presParOf" srcId="{6B880F96-7363-45FB-B8B7-893DC983015D}" destId="{5B639775-3F89-47BB-BEEF-48A1A6E5C37A}" srcOrd="4" destOrd="0" presId="urn:microsoft.com/office/officeart/2005/8/layout/list1"/>
    <dgm:cxn modelId="{929F8229-67E4-4E8C-AAAD-3BA42DB81A1F}" type="presParOf" srcId="{5B639775-3F89-47BB-BEEF-48A1A6E5C37A}" destId="{AA777C5D-551A-48E1-9C80-724952F0D67F}" srcOrd="0" destOrd="0" presId="urn:microsoft.com/office/officeart/2005/8/layout/list1"/>
    <dgm:cxn modelId="{BA9808E9-D1A1-48B2-B2B9-BFD477788313}" type="presParOf" srcId="{5B639775-3F89-47BB-BEEF-48A1A6E5C37A}" destId="{04BEA821-99AD-491B-8FEB-782DAA89DF83}" srcOrd="1" destOrd="0" presId="urn:microsoft.com/office/officeart/2005/8/layout/list1"/>
    <dgm:cxn modelId="{C0A56577-CBE4-4EAB-80B9-148168BA1322}" type="presParOf" srcId="{6B880F96-7363-45FB-B8B7-893DC983015D}" destId="{D1A95BC9-7247-47D2-8CEC-BDB2BEC0A678}" srcOrd="5" destOrd="0" presId="urn:microsoft.com/office/officeart/2005/8/layout/list1"/>
    <dgm:cxn modelId="{29DB4A14-74E3-476B-BB82-0DE49A19A173}" type="presParOf" srcId="{6B880F96-7363-45FB-B8B7-893DC983015D}" destId="{1CD8C7B1-41B1-4EA1-A11A-75994F8A966F}" srcOrd="6" destOrd="0" presId="urn:microsoft.com/office/officeart/2005/8/layout/list1"/>
    <dgm:cxn modelId="{030B5297-33B4-4397-9A0F-837E81130FC3}" type="presParOf" srcId="{6B880F96-7363-45FB-B8B7-893DC983015D}" destId="{E40DC910-7B07-4DAA-861E-875ECE01EBD8}" srcOrd="7" destOrd="0" presId="urn:microsoft.com/office/officeart/2005/8/layout/list1"/>
    <dgm:cxn modelId="{05D744E5-EB5A-4E72-BD25-B29C99893BB4}" type="presParOf" srcId="{6B880F96-7363-45FB-B8B7-893DC983015D}" destId="{2E5BAB08-CFFB-4626-BD34-8358B6708639}" srcOrd="8" destOrd="0" presId="urn:microsoft.com/office/officeart/2005/8/layout/list1"/>
    <dgm:cxn modelId="{4DD3E81D-7366-4E0D-B195-77B5A97EF7B5}" type="presParOf" srcId="{2E5BAB08-CFFB-4626-BD34-8358B6708639}" destId="{DA9D2BD1-5E13-4D54-8C70-0C943C907EDA}" srcOrd="0" destOrd="0" presId="urn:microsoft.com/office/officeart/2005/8/layout/list1"/>
    <dgm:cxn modelId="{71DA0307-9622-4432-A42B-AD4E09461CE3}" type="presParOf" srcId="{2E5BAB08-CFFB-4626-BD34-8358B6708639}" destId="{F12CBC4F-4D6C-41CF-8117-1F45977901B6}" srcOrd="1" destOrd="0" presId="urn:microsoft.com/office/officeart/2005/8/layout/list1"/>
    <dgm:cxn modelId="{E109CB9A-674B-4CCE-8D36-768B91528FA0}" type="presParOf" srcId="{6B880F96-7363-45FB-B8B7-893DC983015D}" destId="{0CC997BB-ADF9-4B9F-A2C4-390D8C5ABE00}" srcOrd="9" destOrd="0" presId="urn:microsoft.com/office/officeart/2005/8/layout/list1"/>
    <dgm:cxn modelId="{6B0145A7-7AE9-4E65-98A8-A9D910F83320}" type="presParOf" srcId="{6B880F96-7363-45FB-B8B7-893DC983015D}" destId="{3BCE7E04-1356-40EE-8EE2-C875BAA1F73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CC4A7-5422-492E-85AF-EE891454CD1E}">
      <dsp:nvSpPr>
        <dsp:cNvPr id="0" name=""/>
        <dsp:cNvSpPr/>
      </dsp:nvSpPr>
      <dsp:spPr>
        <a:xfrm>
          <a:off x="0" y="973129"/>
          <a:ext cx="8686800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C5ABE-18EC-4D84-8288-8B0708B6BBD6}">
      <dsp:nvSpPr>
        <dsp:cNvPr id="0" name=""/>
        <dsp:cNvSpPr/>
      </dsp:nvSpPr>
      <dsp:spPr>
        <a:xfrm>
          <a:off x="434340" y="707448"/>
          <a:ext cx="608076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b="1" kern="1200"/>
            <a:t>資源分配</a:t>
          </a:r>
          <a:r>
            <a:rPr lang="zh-TW" sz="1800" kern="1200"/>
            <a:t>：單一擁有者架構成功解決了 LED 搶佔問題。</a:t>
          </a:r>
          <a:endParaRPr lang="en-US" sz="1800" kern="1200"/>
        </a:p>
      </dsp:txBody>
      <dsp:txXfrm>
        <a:off x="460279" y="733387"/>
        <a:ext cx="6028882" cy="479482"/>
      </dsp:txXfrm>
    </dsp:sp>
    <dsp:sp modelId="{1CD8C7B1-41B1-4EA1-A11A-75994F8A966F}">
      <dsp:nvSpPr>
        <dsp:cNvPr id="0" name=""/>
        <dsp:cNvSpPr/>
      </dsp:nvSpPr>
      <dsp:spPr>
        <a:xfrm>
          <a:off x="0" y="1789609"/>
          <a:ext cx="8686800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EA821-99AD-491B-8FEB-782DAA89DF83}">
      <dsp:nvSpPr>
        <dsp:cNvPr id="0" name=""/>
        <dsp:cNvSpPr/>
      </dsp:nvSpPr>
      <dsp:spPr>
        <a:xfrm>
          <a:off x="434340" y="1523928"/>
          <a:ext cx="608076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b="1" kern="1200"/>
            <a:t>感測器整合</a:t>
          </a:r>
          <a:r>
            <a:rPr lang="zh-TW" sz="1800" kern="1200"/>
            <a:t>：PIR 成功偵測進出，並串接蜂鳴器音樂。</a:t>
          </a:r>
          <a:endParaRPr lang="en-US" sz="1800" kern="1200"/>
        </a:p>
      </dsp:txBody>
      <dsp:txXfrm>
        <a:off x="460279" y="1549867"/>
        <a:ext cx="6028882" cy="479482"/>
      </dsp:txXfrm>
    </dsp:sp>
    <dsp:sp modelId="{3BCE7E04-1356-40EE-8EE2-C875BAA1F73E}">
      <dsp:nvSpPr>
        <dsp:cNvPr id="0" name=""/>
        <dsp:cNvSpPr/>
      </dsp:nvSpPr>
      <dsp:spPr>
        <a:xfrm>
          <a:off x="0" y="2606089"/>
          <a:ext cx="8686800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CBC4F-4D6C-41CF-8117-1F45977901B6}">
      <dsp:nvSpPr>
        <dsp:cNvPr id="0" name=""/>
        <dsp:cNvSpPr/>
      </dsp:nvSpPr>
      <dsp:spPr>
        <a:xfrm>
          <a:off x="434340" y="2340409"/>
          <a:ext cx="608076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b="1" kern="1200"/>
            <a:t>穩定性</a:t>
          </a:r>
          <a:r>
            <a:rPr lang="zh-TW" sz="1800" kern="1200"/>
            <a:t>：程式能承受多個非同步任務同時運作。</a:t>
          </a:r>
          <a:endParaRPr lang="en-US" sz="1800" kern="1200"/>
        </a:p>
      </dsp:txBody>
      <dsp:txXfrm>
        <a:off x="460279" y="2366348"/>
        <a:ext cx="6028882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7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9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1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1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3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4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1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9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8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7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8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91EF069-4982-F0E7-B0E7-8CCAF19FA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zh-TW" altLang="zh-TW" sz="3700">
                <a:solidFill>
                  <a:schemeClr val="tx2"/>
                </a:solidFill>
              </a:rPr>
              <a:t>解決多個來源搶奪資源的難題——單一擁有者架構 (Single Owner)</a:t>
            </a:r>
            <a:endParaRPr lang="zh-TW" altLang="en-US" sz="3700">
              <a:solidFill>
                <a:schemeClr val="tx2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C46401-CC7D-30A6-276D-877DE322C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>
            <a:normAutofit/>
          </a:bodyPr>
          <a:lstStyle/>
          <a:p>
            <a:r>
              <a:rPr lang="zh-TW" altLang="zh-TW"/>
              <a:t>以 RGB LED 控制與警示系統為例</a:t>
            </a:r>
            <a:endParaRPr lang="zh-TW" altLang="en-US" dirty="0"/>
          </a:p>
        </p:txBody>
      </p:sp>
      <p:pic>
        <p:nvPicPr>
          <p:cNvPr id="4" name="圖片 3" descr="開啟相片">
            <a:extLst>
              <a:ext uri="{FF2B5EF4-FFF2-40B4-BE49-F238E27FC236}">
                <a16:creationId xmlns:a16="http://schemas.microsoft.com/office/drawing/2014/main" id="{1E3C0B69-88FB-CE9D-D532-7434DABB4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51" y="751093"/>
            <a:ext cx="7006226" cy="525467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8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2219B7-130C-B81E-AA13-7B79A7C5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0" dirty="0"/>
              <a:t>三個和尚沒水喝？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8107-DC15-9C47-648F-FF748AC1D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zh-TW" dirty="0"/>
              <a:t>在 IoT 系統中，同一個 LED 可能被多個來源控制：</a:t>
            </a:r>
          </a:p>
          <a:p>
            <a:pPr lvl="1"/>
            <a:r>
              <a:rPr lang="zh-TW" altLang="zh-TW" b="1" dirty="0"/>
              <a:t>實體按鈕</a:t>
            </a:r>
            <a:r>
              <a:rPr lang="zh-TW" altLang="zh-TW" dirty="0"/>
              <a:t>：要求換下一個顏色。</a:t>
            </a:r>
          </a:p>
          <a:p>
            <a:pPr lvl="1"/>
            <a:r>
              <a:rPr lang="zh-TW" altLang="zh-TW" b="1" dirty="0"/>
              <a:t>網頁按鈕</a:t>
            </a:r>
            <a:r>
              <a:rPr lang="zh-TW" altLang="zh-TW" dirty="0"/>
              <a:t>：要求換顏色。</a:t>
            </a:r>
          </a:p>
          <a:p>
            <a:pPr lvl="1"/>
            <a:r>
              <a:rPr lang="zh-TW" altLang="zh-TW" b="1" dirty="0"/>
              <a:t>光照感測器</a:t>
            </a:r>
            <a:r>
              <a:rPr lang="zh-TW" altLang="zh-TW" dirty="0"/>
              <a:t>：太暗時要求紅燈閃爍警示。</a:t>
            </a:r>
          </a:p>
          <a:p>
            <a:pPr lvl="0"/>
            <a:r>
              <a:rPr lang="zh-TW" altLang="zh-TW" b="1" dirty="0"/>
              <a:t>痛點</a:t>
            </a:r>
            <a:r>
              <a:rPr lang="zh-TW" altLang="zh-TW" dirty="0"/>
              <a:t>：如果三個來源「同時」發出要求，或者警示閃爍到一半時有人按按鈕，會發生什麼事？</a:t>
            </a:r>
          </a:p>
          <a:p>
            <a:pPr lvl="0"/>
            <a:r>
              <a:rPr lang="zh-TW" altLang="zh-TW" b="1" dirty="0"/>
              <a:t>結果</a:t>
            </a:r>
            <a:r>
              <a:rPr lang="zh-TW" altLang="zh-TW" dirty="0"/>
              <a:t>：紅閃被打斷、顏色錯亂、網頁顯示與實際燈號不同步。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BD80EA-DA2D-61B8-F981-1555720D4539}"/>
              </a:ext>
            </a:extLst>
          </p:cNvPr>
          <p:cNvSpPr txBox="1"/>
          <p:nvPr/>
        </p:nvSpPr>
        <p:spPr>
          <a:xfrm>
            <a:off x="7128386" y="5694926"/>
            <a:ext cx="142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zh-TW" dirty="0"/>
              <a:t>按鈕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B22339-9DAB-24AB-9BBB-2AF1A18D6DBA}"/>
              </a:ext>
            </a:extLst>
          </p:cNvPr>
          <p:cNvSpPr txBox="1"/>
          <p:nvPr/>
        </p:nvSpPr>
        <p:spPr>
          <a:xfrm>
            <a:off x="7216877" y="6483096"/>
            <a:ext cx="142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/>
              <a:t>網頁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368616-1EC6-F1FF-93E5-843D15D3CE76}"/>
              </a:ext>
            </a:extLst>
          </p:cNvPr>
          <p:cNvSpPr txBox="1"/>
          <p:nvPr/>
        </p:nvSpPr>
        <p:spPr>
          <a:xfrm>
            <a:off x="7128386" y="4987102"/>
            <a:ext cx="142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/>
              <a:t>光感</a:t>
            </a:r>
          </a:p>
        </p:txBody>
      </p:sp>
      <p:pic>
        <p:nvPicPr>
          <p:cNvPr id="10" name="圖片 9" descr="簡筆畫燈泡png免摳素材, 簡筆畫燈泡png免摳素材, 燈泡絲, 卡通燈泡素材圖案，PSD和PNG圖片免費下載">
            <a:extLst>
              <a:ext uri="{FF2B5EF4-FFF2-40B4-BE49-F238E27FC236}">
                <a16:creationId xmlns:a16="http://schemas.microsoft.com/office/drawing/2014/main" id="{3E4C070F-6AD8-7D92-06FF-69A767ABB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176" y="4416553"/>
            <a:ext cx="2573594" cy="2279215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D18D9C8-A901-A7CA-7175-130EBDA8B740}"/>
              </a:ext>
            </a:extLst>
          </p:cNvPr>
          <p:cNvCxnSpPr>
            <a:stCxn id="9" idx="0"/>
            <a:endCxn id="10" idx="1"/>
          </p:cNvCxnSpPr>
          <p:nvPr/>
        </p:nvCxnSpPr>
        <p:spPr>
          <a:xfrm>
            <a:off x="7841225" y="4987102"/>
            <a:ext cx="1438951" cy="479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EFEFA94-493C-6DDE-E643-167B6FB80A38}"/>
              </a:ext>
            </a:extLst>
          </p:cNvPr>
          <p:cNvCxnSpPr>
            <a:cxnSpLocks/>
          </p:cNvCxnSpPr>
          <p:nvPr/>
        </p:nvCxnSpPr>
        <p:spPr>
          <a:xfrm flipV="1">
            <a:off x="7841225" y="5619135"/>
            <a:ext cx="1591351" cy="30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B3207C35-68FF-8AFC-FB0B-724538621A8A}"/>
              </a:ext>
            </a:extLst>
          </p:cNvPr>
          <p:cNvCxnSpPr>
            <a:cxnSpLocks/>
          </p:cNvCxnSpPr>
          <p:nvPr/>
        </p:nvCxnSpPr>
        <p:spPr>
          <a:xfrm flipV="1">
            <a:off x="7841225" y="5771535"/>
            <a:ext cx="1743751" cy="896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07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5FC88-80CB-6801-899A-591D4DCE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0"/>
              <a:t>改變規則：提出要求不等於直接操作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7F353EC-5577-1D61-D75E-4907E1FFC851}"/>
              </a:ext>
            </a:extLst>
          </p:cNvPr>
          <p:cNvSpPr txBox="1"/>
          <p:nvPr/>
        </p:nvSpPr>
        <p:spPr>
          <a:xfrm>
            <a:off x="515112" y="3021529"/>
            <a:ext cx="6096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為了解決衝突，我們建立「單一擁有者」架構。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提出要求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：按鈕、網頁、感測器不能直接碰硬體，只能「提出申請」。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受理窗口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：系統判斷現在能不能接單（例如：警示中就不接單）。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唯一工作者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：只有這位「唯一擁有者」能真正去改 LED 的狀態。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重點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：同一時間，永遠只有一個程式在控制硬體，徹底解決衝突。</a:t>
            </a:r>
            <a:endParaRPr lang="zh-TW" altLang="zh-TW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6" name="圖片 5" descr="排隊的插圖– 免費插畫素材合集KuKuKeKe">
            <a:extLst>
              <a:ext uri="{FF2B5EF4-FFF2-40B4-BE49-F238E27FC236}">
                <a16:creationId xmlns:a16="http://schemas.microsoft.com/office/drawing/2014/main" id="{57B2D6AB-1221-25A3-8EA0-51F03104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171" y="1477296"/>
            <a:ext cx="2859787" cy="514718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6759E85-3776-0B02-637F-E3D3B8D1A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849" y="4293672"/>
            <a:ext cx="2472151" cy="24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5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484285-523C-1EFE-7420-5322DFA3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0"/>
              <a:t>警示只是「暫時的表演」，不破壞原本狀態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7B6FFE1-6F95-9982-7C2D-C75921FBE68B}"/>
              </a:ext>
            </a:extLst>
          </p:cNvPr>
          <p:cNvSpPr txBox="1"/>
          <p:nvPr/>
        </p:nvSpPr>
        <p:spPr>
          <a:xfrm>
            <a:off x="727588" y="2684206"/>
            <a:ext cx="86622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# </a:t>
            </a:r>
            <a:r>
              <a:rPr lang="zh-TW" altLang="en-US" dirty="0"/>
              <a:t>執行閃爍前，先儲存狀態</a:t>
            </a:r>
          </a:p>
          <a:p>
            <a:r>
              <a:rPr lang="en-US" altLang="zh-TW" dirty="0" err="1"/>
              <a:t>rgb_led.alert_active</a:t>
            </a:r>
            <a:r>
              <a:rPr lang="en-US" altLang="zh-TW" dirty="0"/>
              <a:t> = True</a:t>
            </a:r>
          </a:p>
          <a:p>
            <a:r>
              <a:rPr lang="en-US" altLang="zh-TW" dirty="0" err="1"/>
              <a:t>rgb_led.save_state</a:t>
            </a:r>
            <a:r>
              <a:rPr lang="en-US" altLang="zh-TW" dirty="0"/>
              <a:t>() # </a:t>
            </a:r>
            <a:r>
              <a:rPr lang="zh-TW" altLang="en-US" dirty="0"/>
              <a:t>記住原本的顏色</a:t>
            </a:r>
          </a:p>
          <a:p>
            <a:endParaRPr lang="zh-TW" altLang="en-US" dirty="0"/>
          </a:p>
          <a:p>
            <a:r>
              <a:rPr lang="en-US" altLang="zh-TW" dirty="0"/>
              <a:t>for _ in range(5):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rgb_led.set_color_by_index</a:t>
            </a:r>
            <a:r>
              <a:rPr lang="en-US" altLang="zh-TW" dirty="0"/>
              <a:t>(4) # </a:t>
            </a:r>
            <a:r>
              <a:rPr lang="zh-TW" altLang="en-US" dirty="0"/>
              <a:t>紅色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await </a:t>
            </a:r>
            <a:r>
              <a:rPr lang="en-US" altLang="zh-TW" dirty="0" err="1"/>
              <a:t>uasyncio.sleep_ms</a:t>
            </a:r>
            <a:r>
              <a:rPr lang="en-US" altLang="zh-TW" dirty="0"/>
              <a:t>(100)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rgb_led.off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await </a:t>
            </a:r>
            <a:r>
              <a:rPr lang="en-US" altLang="zh-TW" dirty="0" err="1"/>
              <a:t>uasyncio.sleep_ms</a:t>
            </a:r>
            <a:r>
              <a:rPr lang="en-US" altLang="zh-TW" dirty="0"/>
              <a:t>(100)</a:t>
            </a:r>
          </a:p>
          <a:p>
            <a:endParaRPr lang="en-US" altLang="zh-TW" dirty="0"/>
          </a:p>
          <a:p>
            <a:r>
              <a:rPr lang="en-US" altLang="zh-TW" dirty="0"/>
              <a:t># </a:t>
            </a:r>
            <a:r>
              <a:rPr lang="zh-TW" altLang="en-US" dirty="0"/>
              <a:t>閃爍結束，恢復狀態</a:t>
            </a:r>
          </a:p>
          <a:p>
            <a:r>
              <a:rPr lang="en-US" altLang="zh-TW" dirty="0" err="1"/>
              <a:t>rgb_led.restore_state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rgb_led.alert_active</a:t>
            </a:r>
            <a:r>
              <a:rPr lang="en-US" altLang="zh-TW" dirty="0"/>
              <a:t> = False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39FB2B0-30B7-198C-5A88-652519A964E3}"/>
              </a:ext>
            </a:extLst>
          </p:cNvPr>
          <p:cNvSpPr txBox="1"/>
          <p:nvPr/>
        </p:nvSpPr>
        <p:spPr>
          <a:xfrm>
            <a:off x="5933767" y="53255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我們用 </a:t>
            </a:r>
            <a:r>
              <a:rPr lang="zh-TW" altLang="zh-TW" b="0" i="0" dirty="0">
                <a:solidFill>
                  <a:schemeClr val="tx1"/>
                </a:solidFill>
                <a:effectLst/>
                <a:latin typeface="+mn-lt"/>
              </a:rPr>
              <a:t>save_state()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 把原本顏色存起來，閃完後用 </a:t>
            </a:r>
            <a:r>
              <a:rPr lang="zh-TW" altLang="zh-TW" b="0" i="0" dirty="0">
                <a:solidFill>
                  <a:schemeClr val="tx1"/>
                </a:solidFill>
                <a:effectLst/>
                <a:latin typeface="+mn-lt"/>
              </a:rPr>
              <a:t>restore_state()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 放回去。所以紅色只是短暫輸出，不會覆蓋原本的正常狀態。」</a:t>
            </a:r>
            <a:endParaRPr lang="zh-TW" altLang="en-US" dirty="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AD1C7D7B-C7BD-77EB-BF8A-7B31AF966943}"/>
              </a:ext>
            </a:extLst>
          </p:cNvPr>
          <p:cNvCxnSpPr>
            <a:endCxn id="8" idx="1"/>
          </p:cNvCxnSpPr>
          <p:nvPr/>
        </p:nvCxnSpPr>
        <p:spPr>
          <a:xfrm rot="16200000" flipH="1">
            <a:off x="4167316" y="3836141"/>
            <a:ext cx="2544761" cy="98814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15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A37419-C2C6-627E-7C09-2EDE51AF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擴充實例——按鈕 3 綠閃三次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2C3E05-197C-9E16-173F-E5EBE6B1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28"/>
            <a:ext cx="7157884" cy="1373960"/>
          </a:xfrm>
        </p:spPr>
        <p:txBody>
          <a:bodyPr/>
          <a:lstStyle/>
          <a:p>
            <a:pPr lvl="0"/>
            <a:r>
              <a:rPr lang="zh-TW" altLang="zh-TW" dirty="0"/>
              <a:t>老師在講義中提出的擴充：新增「按鈕 3 綠閃三次」。</a:t>
            </a:r>
          </a:p>
          <a:p>
            <a:pPr lvl="0"/>
            <a:r>
              <a:rPr lang="zh-TW" altLang="zh-TW" b="1" dirty="0"/>
              <a:t>實作結果</a:t>
            </a:r>
            <a:r>
              <a:rPr lang="zh-TW" altLang="zh-TW" dirty="0"/>
              <a:t>：完全不需要改動核心架構，只要新增一個處理函式即可。</a:t>
            </a:r>
          </a:p>
          <a:p>
            <a:pPr lvl="0"/>
            <a:r>
              <a:rPr lang="zh-TW" altLang="zh-TW" dirty="0"/>
              <a:t>綠閃期間，其他按鈕一樣會被鎖定（alert_active）。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127443-A89F-6438-F214-595E18518549}"/>
              </a:ext>
            </a:extLst>
          </p:cNvPr>
          <p:cNvSpPr txBox="1"/>
          <p:nvPr/>
        </p:nvSpPr>
        <p:spPr>
          <a:xfrm>
            <a:off x="7157884" y="1709928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# web_server.py 中處理網頁綠閃的 API</a:t>
            </a:r>
          </a:p>
          <a:p>
            <a:r>
              <a:rPr lang="zh-TW" altLang="en-US" dirty="0"/>
              <a:t>async def trigger_green_flash_from_web():</a:t>
            </a:r>
          </a:p>
          <a:p>
            <a:r>
              <a:rPr lang="zh-TW" altLang="en-US" dirty="0"/>
              <a:t>    if rgb_led is None or rgb_led.alert_active:</a:t>
            </a:r>
          </a:p>
          <a:p>
            <a:r>
              <a:rPr lang="zh-TW" altLang="en-US" dirty="0"/>
              <a:t>        return False</a:t>
            </a:r>
          </a:p>
          <a:p>
            <a:r>
              <a:rPr lang="zh-TW" altLang="en-US" dirty="0"/>
              <a:t>    </a:t>
            </a:r>
          </a:p>
          <a:p>
            <a:r>
              <a:rPr lang="zh-TW" altLang="en-US" dirty="0"/>
              <a:t>    rgb_led.alert_active = True</a:t>
            </a:r>
          </a:p>
          <a:p>
            <a:r>
              <a:rPr lang="zh-TW" altLang="en-US" dirty="0"/>
              <a:t>    rgb_led.save_state()</a:t>
            </a:r>
          </a:p>
          <a:p>
            <a:endParaRPr lang="zh-TW" altLang="en-US" dirty="0"/>
          </a:p>
          <a:p>
            <a:r>
              <a:rPr lang="zh-TW" altLang="en-US" dirty="0"/>
              <a:t>    try:</a:t>
            </a:r>
          </a:p>
          <a:p>
            <a:r>
              <a:rPr lang="zh-TW" altLang="en-US" dirty="0"/>
              <a:t>        for _ in range(3): # 綠閃 3 次</a:t>
            </a:r>
          </a:p>
          <a:p>
            <a:r>
              <a:rPr lang="zh-TW" altLang="en-US" dirty="0"/>
              <a:t>            rgb_led.set_color_by_index(2) </a:t>
            </a:r>
          </a:p>
          <a:p>
            <a:r>
              <a:rPr lang="zh-TW" altLang="en-US" dirty="0"/>
              <a:t>            await uasyncio.sleep_ms(300)</a:t>
            </a:r>
          </a:p>
          <a:p>
            <a:r>
              <a:rPr lang="zh-TW" altLang="en-US" dirty="0"/>
              <a:t>            rgb_led.off()</a:t>
            </a:r>
          </a:p>
          <a:p>
            <a:r>
              <a:rPr lang="zh-TW" altLang="en-US" dirty="0"/>
              <a:t>            await uasyncio.sleep_ms(300)</a:t>
            </a:r>
          </a:p>
          <a:p>
            <a:r>
              <a:rPr lang="zh-TW" altLang="en-US" dirty="0"/>
              <a:t>    finally:</a:t>
            </a:r>
          </a:p>
          <a:p>
            <a:r>
              <a:rPr lang="zh-TW" altLang="en-US" dirty="0"/>
              <a:t>        rgb_led.restore_state()</a:t>
            </a:r>
          </a:p>
          <a:p>
            <a:r>
              <a:rPr lang="zh-TW" altLang="en-US" dirty="0"/>
              <a:t>        rgb_led.alert_active = False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76B5AB3-A4BA-331F-33DA-57B74DD1F3D4}"/>
              </a:ext>
            </a:extLst>
          </p:cNvPr>
          <p:cNvSpPr txBox="1"/>
          <p:nvPr/>
        </p:nvSpPr>
        <p:spPr>
          <a:xfrm>
            <a:off x="255639" y="5776677"/>
            <a:ext cx="6646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這個新增功能完美驗證了架構的擴充性。只要照著同樣的『鎖定、儲存、閃爍、恢復』邏輯，就能無痛接上老師要求的擴充提案。</a:t>
            </a: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1532ADD-ADD5-5BC8-0F54-B24159931BBB}"/>
              </a:ext>
            </a:extLst>
          </p:cNvPr>
          <p:cNvSpPr/>
          <p:nvPr/>
        </p:nvSpPr>
        <p:spPr>
          <a:xfrm>
            <a:off x="6882580" y="5791200"/>
            <a:ext cx="550607" cy="503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473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C821F91-3027-25CF-60FE-3A0F80EF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>
            <a:normAutofit/>
          </a:bodyPr>
          <a:lstStyle/>
          <a:p>
            <a:r>
              <a:rPr lang="zh-TW" altLang="zh-TW"/>
              <a:t>主題二——PIR 紅外線移動偵測原理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298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E5C7BC-9689-92FC-A986-CBBF74A9A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0216" cy="3767328"/>
          </a:xfrm>
        </p:spPr>
        <p:txBody>
          <a:bodyPr>
            <a:normAutofit/>
          </a:bodyPr>
          <a:lstStyle/>
          <a:p>
            <a:pPr lvl="0"/>
            <a:r>
              <a:rPr lang="zh-TW" altLang="zh-TW" b="1" dirty="0"/>
              <a:t>原理</a:t>
            </a:r>
            <a:r>
              <a:rPr lang="zh-TW" altLang="zh-TW" dirty="0"/>
              <a:t>：被動式紅外線（Passive Infrared），偵測人體移動時的「溫度變化」，靜止不動不會觸發。</a:t>
            </a:r>
          </a:p>
          <a:p>
            <a:pPr lvl="0"/>
            <a:r>
              <a:rPr lang="zh-TW" altLang="zh-TW" b="1" dirty="0"/>
              <a:t>硬體特性</a:t>
            </a:r>
            <a:r>
              <a:rPr lang="zh-TW" altLang="zh-TW" dirty="0"/>
              <a:t>：</a:t>
            </a:r>
          </a:p>
          <a:p>
            <a:pPr lvl="1"/>
            <a:r>
              <a:rPr lang="zh-TW" altLang="zh-TW" dirty="0"/>
              <a:t>需要暖機時間（約 30-60 秒）。</a:t>
            </a:r>
          </a:p>
          <a:p>
            <a:pPr lvl="1"/>
            <a:r>
              <a:rPr lang="zh-TW" altLang="zh-TW" dirty="0"/>
              <a:t>有延遲鎖定（Tx 旋鈕），觸發後會維持高電位一段時間。</a:t>
            </a:r>
          </a:p>
          <a:p>
            <a:pPr lvl="0"/>
            <a:r>
              <a:rPr lang="zh-TW" altLang="zh-TW" b="1" dirty="0"/>
              <a:t>除錯經驗</a:t>
            </a:r>
            <a:r>
              <a:rPr lang="zh-TW" altLang="zh-TW" dirty="0"/>
              <a:t>：將 Tx 旋鈕轉到最短，並避開暖機時間，解決了「亂觸發」與「卡住」的問題。</a:t>
            </a:r>
          </a:p>
          <a:p>
            <a:endParaRPr lang="zh-TW" altLang="en-US" dirty="0"/>
          </a:p>
        </p:txBody>
      </p:sp>
      <p:pic>
        <p:nvPicPr>
          <p:cNvPr id="4" name="圖片 3" descr="開啟相片">
            <a:extLst>
              <a:ext uri="{FF2B5EF4-FFF2-40B4-BE49-F238E27FC236}">
                <a16:creationId xmlns:a16="http://schemas.microsoft.com/office/drawing/2014/main" id="{D0954BA3-08F8-90F0-9526-B901268B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25" r="-2" b="-2"/>
          <a:stretch>
            <a:fillRect/>
          </a:stretch>
        </p:blipFill>
        <p:spPr>
          <a:xfrm>
            <a:off x="7586236" y="508090"/>
            <a:ext cx="4081805" cy="584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3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9117BB-83C9-EE94-9ABC-CB85B59C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軟體邏輯——進出交替狀態機</a:t>
            </a:r>
            <a:br>
              <a:rPr lang="zh-TW" altLang="zh-TW" dirty="0"/>
            </a:br>
            <a:r>
              <a:rPr lang="zh-TW" altLang="zh-TW" b="0" dirty="0"/>
              <a:t>單一 PIR 如何判斷「進來」與「出去」？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8F939-5472-7E8F-7F4D-586B75BC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zh-TW" dirty="0"/>
              <a:t>單顆 PIR 無法分辨方向，因此我們用「狀態翻轉」來判斷。</a:t>
            </a:r>
          </a:p>
          <a:p>
            <a:pPr lvl="0"/>
            <a:r>
              <a:rPr lang="zh-TW" altLang="zh-TW" dirty="0"/>
              <a:t>第 1 次觸發 → 判定「進來」。</a:t>
            </a:r>
          </a:p>
          <a:p>
            <a:pPr lvl="0"/>
            <a:r>
              <a:rPr lang="zh-TW" altLang="zh-TW" dirty="0"/>
              <a:t>第 2 次觸發 → 判定「出去」。</a:t>
            </a:r>
          </a:p>
          <a:p>
            <a:pPr lvl="0"/>
            <a:r>
              <a:rPr lang="zh-TW" altLang="zh-TW" dirty="0"/>
              <a:t>並將結果存入陣列，保留最近 5 筆紀錄。</a:t>
            </a:r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671931-AABA-D9C7-8CB9-9887720184D2}"/>
              </a:ext>
            </a:extLst>
          </p:cNvPr>
          <p:cNvSpPr txBox="1"/>
          <p:nvPr/>
        </p:nvSpPr>
        <p:spPr>
          <a:xfrm>
            <a:off x="6872749" y="300064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is_inside = False # 預設人在外面</a:t>
            </a:r>
          </a:p>
          <a:p>
            <a:endParaRPr lang="zh-TW" altLang="en-US" dirty="0"/>
          </a:p>
          <a:p>
            <a:r>
              <a:rPr lang="zh-TW" altLang="en-US" dirty="0"/>
              <a:t>if now and not was_detected:</a:t>
            </a:r>
          </a:p>
          <a:p>
            <a:r>
              <a:rPr lang="zh-TW" altLang="en-US" dirty="0"/>
              <a:t>    # 每次偵測到人，就切換狀態</a:t>
            </a:r>
          </a:p>
          <a:p>
            <a:r>
              <a:rPr lang="zh-TW" altLang="en-US" dirty="0"/>
              <a:t>    is_inside = not is_inside</a:t>
            </a:r>
          </a:p>
          <a:p>
            <a:endParaRPr lang="zh-TW" altLang="en-US" dirty="0"/>
          </a:p>
          <a:p>
            <a:r>
              <a:rPr lang="zh-TW" altLang="en-US" dirty="0"/>
              <a:t>    if is_inside:</a:t>
            </a:r>
          </a:p>
          <a:p>
            <a:r>
              <a:rPr lang="zh-TW" altLang="en-US" dirty="0"/>
              <a:t>        action = "進來"</a:t>
            </a:r>
          </a:p>
          <a:p>
            <a:r>
              <a:rPr lang="zh-TW" altLang="en-US" dirty="0"/>
              <a:t>    else:</a:t>
            </a:r>
          </a:p>
          <a:p>
            <a:r>
              <a:rPr lang="zh-TW" altLang="en-US" dirty="0"/>
              <a:t>        action = "出去"</a:t>
            </a:r>
          </a:p>
          <a:p>
            <a:endParaRPr lang="zh-TW" altLang="en-US" dirty="0"/>
          </a:p>
          <a:p>
            <a:r>
              <a:rPr lang="zh-TW" altLang="en-US" dirty="0"/>
              <a:t>    # 記錄到歷史清單中（保留最近 5 筆）</a:t>
            </a:r>
          </a:p>
          <a:p>
            <a:r>
              <a:rPr lang="zh-TW" altLang="en-US" dirty="0"/>
              <a:t>    history.append({"time": time_str, "action": action})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89C587-482B-EFB3-3BDA-DDBC7AF2E7E1}"/>
              </a:ext>
            </a:extLst>
          </p:cNvPr>
          <p:cNvSpPr txBox="1"/>
          <p:nvPr/>
        </p:nvSpPr>
        <p:spPr>
          <a:xfrm>
            <a:off x="158545" y="5879592"/>
            <a:ext cx="64843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我們寫了一個狀態機，利用 </a:t>
            </a:r>
            <a:r>
              <a:rPr lang="zh-TW" altLang="zh-TW" b="0" i="0" dirty="0">
                <a:solidFill>
                  <a:schemeClr val="tx1"/>
                </a:solidFill>
                <a:effectLst/>
                <a:latin typeface="+mn-lt"/>
              </a:rPr>
              <a:t>is_inside = not is_inside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 來翻轉狀態，並把每次進出的時間記錄下來。</a:t>
            </a:r>
            <a:endParaRPr lang="zh-TW" altLang="en-US" dirty="0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AF8CAD8B-9166-2A32-9327-1F143CAF010B}"/>
              </a:ext>
            </a:extLst>
          </p:cNvPr>
          <p:cNvSpPr/>
          <p:nvPr/>
        </p:nvSpPr>
        <p:spPr>
          <a:xfrm>
            <a:off x="6413089" y="5842203"/>
            <a:ext cx="550607" cy="503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83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3B3F02-78BA-E2C4-D142-776C641E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0" dirty="0"/>
              <a:t>邊緣觸發（Edge Trigger）的應用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1C4C90-676C-3AE3-D885-2455A74F5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21" y="2073525"/>
            <a:ext cx="5997579" cy="101016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zh-TW" altLang="zh-TW" b="1" dirty="0"/>
              <a:t>問題</a:t>
            </a:r>
            <a:r>
              <a:rPr lang="zh-TW" altLang="zh-TW" dirty="0"/>
              <a:t>：人站在感測器前晃動，會不斷觸發蜂鳴器。</a:t>
            </a:r>
          </a:p>
          <a:p>
            <a:pPr lvl="0"/>
            <a:r>
              <a:rPr lang="zh-TW" altLang="zh-TW" b="1" dirty="0"/>
              <a:t>解法</a:t>
            </a:r>
            <a:r>
              <a:rPr lang="zh-TW" altLang="zh-TW" dirty="0"/>
              <a:t>：使用 was_detected 變數，確保只有「從 0 變成 1」的瞬間才觸發動作。</a:t>
            </a:r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8484FCF-A60F-4F5B-F4C5-DE43A83D540C}"/>
              </a:ext>
            </a:extLst>
          </p:cNvPr>
          <p:cNvSpPr txBox="1"/>
          <p:nvPr/>
        </p:nvSpPr>
        <p:spPr>
          <a:xfrm>
            <a:off x="6096000" y="207608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was_detected = False</a:t>
            </a:r>
          </a:p>
          <a:p>
            <a:endParaRPr lang="zh-TW" altLang="en-US"/>
          </a:p>
          <a:p>
            <a:r>
              <a:rPr lang="zh-TW" altLang="en-US"/>
              <a:t>while True:</a:t>
            </a:r>
          </a:p>
          <a:p>
            <a:r>
              <a:rPr lang="zh-TW" altLang="en-US"/>
              <a:t>    now = ir_sensor.detected()</a:t>
            </a:r>
          </a:p>
          <a:p>
            <a:r>
              <a:rPr lang="zh-TW" altLang="en-US"/>
              <a:t>    motion_state["detected"] = now</a:t>
            </a:r>
          </a:p>
          <a:p>
            <a:endParaRPr lang="zh-TW" altLang="en-US"/>
          </a:p>
          <a:p>
            <a:r>
              <a:rPr lang="zh-TW" altLang="en-US"/>
              <a:t>    # 只有在「從 0 變成 1」的那一瞬間才觸發</a:t>
            </a:r>
          </a:p>
          <a:p>
            <a:r>
              <a:rPr lang="zh-TW" altLang="en-US"/>
              <a:t>    if now and not was_detected:</a:t>
            </a:r>
          </a:p>
          <a:p>
            <a:r>
              <a:rPr lang="zh-TW" altLang="en-US"/>
              <a:t>        # 執行蜂鳴器播放等動作</a:t>
            </a:r>
          </a:p>
          <a:p>
            <a:r>
              <a:rPr lang="zh-TW" altLang="en-US"/>
              <a:t>        await buzzer.play_melody()</a:t>
            </a:r>
          </a:p>
          <a:p>
            <a:r>
              <a:rPr lang="zh-TW" altLang="en-US"/>
              <a:t>        </a:t>
            </a:r>
          </a:p>
          <a:p>
            <a:r>
              <a:rPr lang="zh-TW" altLang="en-US"/>
              <a:t>    was_detected = now</a:t>
            </a:r>
          </a:p>
          <a:p>
            <a:r>
              <a:rPr lang="zh-TW" altLang="en-US"/>
              <a:t>    await uasyncio.sleep_ms(config.IR_POLL_INTERVAL_MS)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CF3F7DE-9174-5C47-F26B-4634BF7D5F0C}"/>
              </a:ext>
            </a:extLst>
          </p:cNvPr>
          <p:cNvSpPr txBox="1"/>
          <p:nvPr/>
        </p:nvSpPr>
        <p:spPr>
          <a:xfrm>
            <a:off x="98421" y="509141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透過 </a:t>
            </a:r>
            <a:r>
              <a:rPr lang="zh-TW" altLang="zh-TW" b="0" i="0" dirty="0">
                <a:solidFill>
                  <a:schemeClr val="tx1"/>
                </a:solidFill>
                <a:effectLst/>
                <a:latin typeface="+mn-lt"/>
              </a:rPr>
              <a:t>was_detected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 記住上一次的狀態，我們確保只有『人剛進來』的那一瞬間會響鈴，不會每秒都在響。</a:t>
            </a:r>
            <a:endParaRPr lang="zh-TW" altLang="en-US" dirty="0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9198EB5E-4ED5-81B6-3B49-EF5C6F179D68}"/>
              </a:ext>
            </a:extLst>
          </p:cNvPr>
          <p:cNvSpPr/>
          <p:nvPr/>
        </p:nvSpPr>
        <p:spPr>
          <a:xfrm>
            <a:off x="5643814" y="5368413"/>
            <a:ext cx="550607" cy="503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96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77F59D-08E3-11D9-8182-7E4B85AA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zh-TW" altLang="zh-TW" dirty="0"/>
              <a:t>總結與 Demo</a:t>
            </a:r>
            <a:br>
              <a:rPr lang="zh-TW" altLang="zh-TW" dirty="0"/>
            </a:br>
            <a:r>
              <a:rPr lang="zh-TW" altLang="zh-TW" b="0" dirty="0"/>
              <a:t>系統整合與實機展示</a:t>
            </a:r>
            <a:endParaRPr lang="zh-TW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42191EFA-DEF4-85C2-8333-F52B377B65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728422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983812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1097</Words>
  <Application>Microsoft Office PowerPoint</Application>
  <PresentationFormat>寬螢幕</PresentationFormat>
  <Paragraphs>101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quote-cjk-patch</vt:lpstr>
      <vt:lpstr>Arial</vt:lpstr>
      <vt:lpstr>Bierstadt</vt:lpstr>
      <vt:lpstr>GestaltVTI</vt:lpstr>
      <vt:lpstr>解決多個來源搶奪資源的難題——單一擁有者架構 (Single Owner)</vt:lpstr>
      <vt:lpstr>三個和尚沒水喝？</vt:lpstr>
      <vt:lpstr>改變規則：提出要求不等於直接操作</vt:lpstr>
      <vt:lpstr>警示只是「暫時的表演」，不破壞原本狀態</vt:lpstr>
      <vt:lpstr>擴充實例——按鈕 3 綠閃三次 </vt:lpstr>
      <vt:lpstr>主題二——PIR 紅外線移動偵測原理</vt:lpstr>
      <vt:lpstr>軟體邏輯——進出交替狀態機 單一 PIR 如何判斷「進來」與「出去」？</vt:lpstr>
      <vt:lpstr>邊緣觸發（Edge Trigger）的應用</vt:lpstr>
      <vt:lpstr>總結與 Demo 系統整合與實機展示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鍾隆諭</dc:creator>
  <cp:lastModifiedBy>鍾隆諭</cp:lastModifiedBy>
  <cp:revision>5</cp:revision>
  <dcterms:created xsi:type="dcterms:W3CDTF">2026-10-20T07:45:01Z</dcterms:created>
  <dcterms:modified xsi:type="dcterms:W3CDTF">2026-10-20T08:02:56Z</dcterms:modified>
</cp:coreProperties>
</file>